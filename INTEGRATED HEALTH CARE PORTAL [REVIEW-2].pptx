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303" r:id="rId3"/>
    <p:sldId id="258" r:id="rId4"/>
    <p:sldId id="259" r:id="rId5"/>
    <p:sldId id="260" r:id="rId6"/>
    <p:sldId id="261" r:id="rId7"/>
    <p:sldId id="262" r:id="rId8"/>
    <p:sldId id="263" r:id="rId9"/>
    <p:sldId id="315" r:id="rId10"/>
    <p:sldId id="302" r:id="rId11"/>
    <p:sldId id="312" r:id="rId12"/>
    <p:sldId id="265" r:id="rId13"/>
    <p:sldId id="266" r:id="rId14"/>
    <p:sldId id="267" r:id="rId15"/>
    <p:sldId id="268" r:id="rId16"/>
    <p:sldId id="269" r:id="rId17"/>
    <p:sldId id="270" r:id="rId18"/>
    <p:sldId id="271" r:id="rId19"/>
    <p:sldId id="298"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94" autoAdjust="0"/>
    <p:restoredTop sz="94660"/>
  </p:normalViewPr>
  <p:slideViewPr>
    <p:cSldViewPr snapToGrid="0">
      <p:cViewPr varScale="1">
        <p:scale>
          <a:sx n="69" d="100"/>
          <a:sy n="69" d="100"/>
        </p:scale>
        <p:origin x="56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B76F41-A8C7-4E93-B6B3-3FD635BE22D5}" type="datetimeFigureOut">
              <a:rPr lang="en-IN" smtClean="0"/>
              <a:t>03-01-2025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C0DA45-4BF7-45E2-B168-4BFE60DC616B}" type="slidenum">
              <a:rPr lang="en-IN" smtClean="0"/>
              <a:t>‹#›</a:t>
            </a:fld>
            <a:endParaRPr lang="en-IN"/>
          </a:p>
        </p:txBody>
      </p:sp>
    </p:spTree>
    <p:extLst>
      <p:ext uri="{BB962C8B-B14F-4D97-AF65-F5344CB8AC3E}">
        <p14:creationId xmlns:p14="http://schemas.microsoft.com/office/powerpoint/2010/main" val="221063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3DC26917-45FD-4D55-A079-23E3A8E9627B}"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5975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spTree>
    <p:extLst>
      <p:ext uri="{BB962C8B-B14F-4D97-AF65-F5344CB8AC3E}">
        <p14:creationId xmlns:p14="http://schemas.microsoft.com/office/powerpoint/2010/main" val="109808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4473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79944D-FA41-4D92-885B-B4D25537A712}" type="datetimeFigureOut">
              <a:rPr lang="en-IN" smtClean="0"/>
              <a:t>03-01-2025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C26917-45FD-4D55-A079-23E3A8E9627B}" type="slidenum">
              <a:rPr lang="en-IN" smtClean="0"/>
              <a:t>‹#›</a:t>
            </a:fld>
            <a:endParaRPr lang="en-IN"/>
          </a:p>
        </p:txBody>
      </p:sp>
    </p:spTree>
    <p:extLst>
      <p:ext uri="{BB962C8B-B14F-4D97-AF65-F5344CB8AC3E}">
        <p14:creationId xmlns:p14="http://schemas.microsoft.com/office/powerpoint/2010/main" val="1788554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79944D-FA41-4D92-885B-B4D25537A712}" type="datetimeFigureOut">
              <a:rPr lang="en-IN" smtClean="0"/>
              <a:t>03-01-2025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DC26917-45FD-4D55-A079-23E3A8E9627B}"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5519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79944D-FA41-4D92-885B-B4D25537A712}" type="datetimeFigureOut">
              <a:rPr lang="en-IN" smtClean="0"/>
              <a:t>03-01-2025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DC26917-45FD-4D55-A079-23E3A8E9627B}"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0642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79944D-FA41-4D92-885B-B4D25537A712}" type="datetimeFigureOut">
              <a:rPr lang="en-IN" smtClean="0"/>
              <a:t>03-01-2025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DC26917-45FD-4D55-A079-23E3A8E9627B}" type="slidenum">
              <a:rPr lang="en-IN" smtClean="0"/>
              <a:t>‹#›</a:t>
            </a:fld>
            <a:endParaRPr lang="en-IN"/>
          </a:p>
        </p:txBody>
      </p:sp>
    </p:spTree>
    <p:extLst>
      <p:ext uri="{BB962C8B-B14F-4D97-AF65-F5344CB8AC3E}">
        <p14:creationId xmlns:p14="http://schemas.microsoft.com/office/powerpoint/2010/main" val="3822077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79944D-FA41-4D92-885B-B4D25537A712}" type="datetimeFigureOut">
              <a:rPr lang="en-IN" smtClean="0"/>
              <a:t>03-01-2025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C26917-45FD-4D55-A079-23E3A8E9627B}"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1153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79944D-FA41-4D92-885B-B4D25537A712}" type="datetimeFigureOut">
              <a:rPr lang="en-IN" smtClean="0"/>
              <a:t>03-01-2025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C26917-45FD-4D55-A079-23E3A8E9627B}" type="slidenum">
              <a:rPr lang="en-IN" smtClean="0"/>
              <a:t>‹#›</a:t>
            </a:fld>
            <a:endParaRPr lang="en-IN"/>
          </a:p>
        </p:txBody>
      </p:sp>
    </p:spTree>
    <p:extLst>
      <p:ext uri="{BB962C8B-B14F-4D97-AF65-F5344CB8AC3E}">
        <p14:creationId xmlns:p14="http://schemas.microsoft.com/office/powerpoint/2010/main" val="3051282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79944D-FA41-4D92-885B-B4D25537A712}" type="datetimeFigureOut">
              <a:rPr lang="en-IN" smtClean="0"/>
              <a:t>03-01-2025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C26917-45FD-4D55-A079-23E3A8E9627B}" type="slidenum">
              <a:rPr lang="en-IN" smtClean="0"/>
              <a:t>‹#›</a:t>
            </a:fld>
            <a:endParaRPr lang="en-IN"/>
          </a:p>
        </p:txBody>
      </p:sp>
    </p:spTree>
    <p:extLst>
      <p:ext uri="{BB962C8B-B14F-4D97-AF65-F5344CB8AC3E}">
        <p14:creationId xmlns:p14="http://schemas.microsoft.com/office/powerpoint/2010/main" val="2446627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89533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5145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spTree>
    <p:extLst>
      <p:ext uri="{BB962C8B-B14F-4D97-AF65-F5344CB8AC3E}">
        <p14:creationId xmlns:p14="http://schemas.microsoft.com/office/powerpoint/2010/main" val="21241738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90595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9725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4029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79944D-FA41-4D92-885B-B4D25537A712}" type="datetimeFigureOut">
              <a:rPr lang="en-IN" smtClean="0"/>
              <a:t>03-01-2025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C26917-45FD-4D55-A079-23E3A8E9627B}"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3987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E79944D-FA41-4D92-885B-B4D25537A712}" type="datetimeFigureOut">
              <a:rPr lang="en-IN" smtClean="0"/>
              <a:t>03-01-2025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DC26917-45FD-4D55-A079-23E3A8E9627B}" type="slidenum">
              <a:rPr lang="en-IN" smtClean="0"/>
              <a:t>‹#›</a:t>
            </a:fld>
            <a:endParaRPr lang="en-IN"/>
          </a:p>
        </p:txBody>
      </p:sp>
    </p:spTree>
    <p:extLst>
      <p:ext uri="{BB962C8B-B14F-4D97-AF65-F5344CB8AC3E}">
        <p14:creationId xmlns:p14="http://schemas.microsoft.com/office/powerpoint/2010/main" val="8599636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8559" y="3066199"/>
            <a:ext cx="9343730" cy="742511"/>
          </a:xfrm>
          <a:prstGeom prst="rect">
            <a:avLst/>
          </a:prstGeom>
        </p:spPr>
        <p:txBody>
          <a:bodyPr wrap="square">
            <a:spAutoFit/>
          </a:bodyPr>
          <a:lstStyle/>
          <a:p>
            <a:pPr algn="ctr">
              <a:lnSpc>
                <a:spcPct val="150000"/>
              </a:lnSpc>
            </a:pPr>
            <a:endParaRPr lang="en-IN" sz="3200" dirty="0">
              <a:latin typeface="Times New Roman" panose="02020603050405020304" pitchFamily="18" charset="0"/>
              <a:ea typeface="Times New Roman" panose="02020603050405020304" pitchFamily="18" charset="0"/>
            </a:endParaRPr>
          </a:p>
        </p:txBody>
      </p:sp>
      <p:sp>
        <p:nvSpPr>
          <p:cNvPr id="4" name="Rectangle 3"/>
          <p:cNvSpPr/>
          <p:nvPr/>
        </p:nvSpPr>
        <p:spPr>
          <a:xfrm>
            <a:off x="3546765" y="3175085"/>
            <a:ext cx="5818908" cy="738664"/>
          </a:xfrm>
          <a:prstGeom prst="rect">
            <a:avLst/>
          </a:prstGeom>
        </p:spPr>
        <p:txBody>
          <a:bodyPr wrap="square">
            <a:spAutoFit/>
          </a:bodyPr>
          <a:lstStyle/>
          <a:p>
            <a:pPr algn="ctr">
              <a:lnSpc>
                <a:spcPct val="150000"/>
              </a:lnSpc>
            </a:pPr>
            <a:r>
              <a:rPr lang="en-IN" sz="2800" b="1" dirty="0">
                <a:solidFill>
                  <a:srgbClr val="212529"/>
                </a:solidFill>
                <a:latin typeface="Times New Roman" panose="02020603050405020304" pitchFamily="18" charset="0"/>
                <a:ea typeface="Times New Roman" panose="02020603050405020304" pitchFamily="18" charset="0"/>
              </a:rPr>
              <a:t>MEDEASE APP USING ANDROID </a:t>
            </a:r>
            <a:endParaRPr lang="en-IN"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52032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58342" y="592574"/>
            <a:ext cx="928459"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INDEX</a:t>
            </a:r>
            <a:endParaRPr lang="en-US" dirty="0"/>
          </a:p>
        </p:txBody>
      </p:sp>
      <p:sp>
        <p:nvSpPr>
          <p:cNvPr id="3" name="Rectangle 2"/>
          <p:cNvSpPr/>
          <p:nvPr/>
        </p:nvSpPr>
        <p:spPr>
          <a:xfrm>
            <a:off x="1349828" y="1342486"/>
            <a:ext cx="6096000" cy="4801314"/>
          </a:xfrm>
          <a:prstGeom prst="rect">
            <a:avLst/>
          </a:prstGeom>
        </p:spPr>
        <p:txBody>
          <a:bodyPr>
            <a:spAutoFit/>
          </a:bodyPr>
          <a:lstStyle/>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Scope And Motivation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Advantages</a:t>
            </a:r>
          </a:p>
        </p:txBody>
      </p:sp>
      <p:sp>
        <p:nvSpPr>
          <p:cNvPr id="4" name="Rectangle 3"/>
          <p:cNvSpPr/>
          <p:nvPr/>
        </p:nvSpPr>
        <p:spPr>
          <a:xfrm>
            <a:off x="6096000" y="1212493"/>
            <a:ext cx="6096000" cy="1975926"/>
          </a:xfrm>
          <a:prstGeom prst="rect">
            <a:avLst/>
          </a:prstGeom>
        </p:spPr>
        <p:txBody>
          <a:bodyPr>
            <a:spAutoFit/>
          </a:bodyPr>
          <a:lstStyle/>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Project Flow</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9811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227277" y="574558"/>
            <a:ext cx="8596668"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3" name="Rectangle 2"/>
          <p:cNvSpPr/>
          <p:nvPr/>
        </p:nvSpPr>
        <p:spPr>
          <a:xfrm>
            <a:off x="914978" y="1170702"/>
            <a:ext cx="10347300" cy="5309146"/>
          </a:xfrm>
          <a:prstGeom prst="rect">
            <a:avLst/>
          </a:prstGeom>
        </p:spPr>
        <p:txBody>
          <a:bodyPr wrap="square">
            <a:spAutoFit/>
          </a:bodyPr>
          <a:lstStyle/>
          <a:p>
            <a:pPr algn="just">
              <a:lnSpc>
                <a:spcPct val="150000"/>
              </a:lnSpc>
            </a:pPr>
            <a:r>
              <a:rPr lang="en-IN" sz="1600" dirty="0">
                <a:latin typeface="Times New Roman" panose="02020603050405020304" pitchFamily="18" charset="0"/>
                <a:cs typeface="Times New Roman" panose="02020603050405020304" pitchFamily="18" charset="0"/>
              </a:rPr>
              <a:t>The MEDEASE is a comprehensive Android application designed to streamline healthcare services by bridging the gap between users, doctors, and medical shops. The app aims to provide an efficient, user-friendly platform that integrates appointment management, medicine search, and healthcare accessibility, ensuring seamless interaction among its stakeholders. The app includes four user roles: Admin, Doctor, Medical Shops, and User. The Admin is responsible for managing the platform by adding and updating doctors and medical shops. Doctors can log in to the app to view and manage appointments by accepting or rejecting requests. Medical Shops are enabled to log in and provide users with access to a robust search functionality for medicines. Users, as patients or customers, can register, log in, view a directory of doctors, schedule appointments, and locate nearby medical shops. MEDEASE enhances healthcare accessibility by providing a centralized platform for managing critical health-related activities. It eliminates common inefficiencies, such as long queues and limited communication, by leveraging real-time functionalities and a responsive user interface. This app ensures convenience, reliability, and a better healthcare experience for all its users</a:t>
            </a:r>
            <a:r>
              <a:rPr lang="en-IN" sz="1600" dirty="0" smtClean="0">
                <a:latin typeface="Times New Roman" panose="02020603050405020304" pitchFamily="18" charset="0"/>
                <a:cs typeface="Times New Roman" panose="02020603050405020304" pitchFamily="18" charset="0"/>
              </a:rPr>
              <a:t>.</a:t>
            </a:r>
          </a:p>
          <a:p>
            <a:pPr algn="just">
              <a:lnSpc>
                <a:spcPct val="150000"/>
              </a:lnSpc>
            </a:pPr>
            <a:endParaRPr lang="en-IN" sz="1600" dirty="0">
              <a:latin typeface="Times New Roman" panose="02020603050405020304" pitchFamily="18" charset="0"/>
              <a:cs typeface="Times New Roman" panose="02020603050405020304" pitchFamily="18" charset="0"/>
            </a:endParaRPr>
          </a:p>
          <a:p>
            <a:pPr algn="just">
              <a:lnSpc>
                <a:spcPct val="150000"/>
              </a:lnSpc>
            </a:pPr>
            <a:r>
              <a:rPr lang="en-IN" sz="1600" dirty="0">
                <a:latin typeface="Times New Roman" panose="02020603050405020304" pitchFamily="18" charset="0"/>
                <a:cs typeface="Times New Roman" panose="02020603050405020304" pitchFamily="18" charset="0"/>
              </a:rPr>
              <a:t>KEYWORDS: Mobile application, Android.</a:t>
            </a:r>
          </a:p>
          <a:p>
            <a:pPr algn="just">
              <a:lnSpc>
                <a:spcPct val="150000"/>
              </a:lnSpc>
            </a:pP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94221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53590" y="527355"/>
            <a:ext cx="8596668" cy="79849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4" name="TextBox 3">
            <a:extLst>
              <a:ext uri="{FF2B5EF4-FFF2-40B4-BE49-F238E27FC236}">
                <a16:creationId xmlns:a16="http://schemas.microsoft.com/office/drawing/2014/main" id="{83D8B131-C32A-0235-00ED-2F6C0CB85975}"/>
              </a:ext>
            </a:extLst>
          </p:cNvPr>
          <p:cNvSpPr txBox="1"/>
          <p:nvPr/>
        </p:nvSpPr>
        <p:spPr>
          <a:xfrm>
            <a:off x="1201377" y="1663932"/>
            <a:ext cx="10058026" cy="2535566"/>
          </a:xfrm>
          <a:prstGeom prst="rect">
            <a:avLst/>
          </a:prstGeom>
          <a:noFill/>
        </p:spPr>
        <p:txBody>
          <a:bodyPr wrap="square">
            <a:spAutoFit/>
          </a:bodyPr>
          <a:lstStyle/>
          <a:p>
            <a:pPr algn="just">
              <a:lnSpc>
                <a:spcPct val="150000"/>
              </a:lnSpc>
            </a:pPr>
            <a:r>
              <a:rPr lang="en-US" dirty="0"/>
              <a:t>The primary objective is to develop an Android-based application that simplifies healthcare access and management. The app facilitates appointment scheduling, doctor management, and medicine search for users. It empowers doctors to handle appointments effectively and provides medical shops with a platform to showcase medicine availability. MEDEASE ensures real-time interaction, convenience, and efficiency for all users. It aims to revolutionize healthcare accessibility through a centralized platform. </a:t>
            </a:r>
            <a:endParaRPr lang="en-IN" dirty="0"/>
          </a:p>
          <a:p>
            <a:pPr algn="just">
              <a:lnSpc>
                <a:spcPct val="150000"/>
              </a:lnSpc>
            </a:pP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31596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06587" y="8320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95B58230-1704-28A2-A524-3557D8B7BBEB}"/>
              </a:ext>
            </a:extLst>
          </p:cNvPr>
          <p:cNvSpPr txBox="1"/>
          <p:nvPr/>
        </p:nvSpPr>
        <p:spPr>
          <a:xfrm>
            <a:off x="1133138" y="2041517"/>
            <a:ext cx="10044378" cy="2603533"/>
          </a:xfrm>
          <a:prstGeom prst="rect">
            <a:avLst/>
          </a:prstGeom>
          <a:noFill/>
        </p:spPr>
        <p:txBody>
          <a:bodyPr wrap="square">
            <a:spAutoFit/>
          </a:bodyPr>
          <a:lstStyle/>
          <a:p>
            <a:pPr algn="just">
              <a:lnSpc>
                <a:spcPct val="150000"/>
              </a:lnSpc>
              <a:spcAft>
                <a:spcPts val="800"/>
              </a:spcAft>
            </a:pPr>
            <a:r>
              <a:rPr lang="en-US" dirty="0"/>
              <a:t>The manual healthcare system is fraught with inefficiencies, such as unstructured appointment processes, limited communication between patients and doctors, and difficulty in accessing medicines. These issues result in delays, frustration, and reduced quality of care. The absence of a unified platform makes healthcare access cumbersome and time-consuming. A digital solution is needed to address these problems effectively. MEDEASE aims to resolve these challenges by integrating healthcare services into one app. </a:t>
            </a:r>
            <a:endParaRPr lang="en-IN" dirty="0"/>
          </a:p>
          <a:p>
            <a:pPr algn="just">
              <a:lnSpc>
                <a:spcPct val="150000"/>
              </a:lnSpc>
              <a:spcAft>
                <a:spcPts val="800"/>
              </a:spcAft>
            </a:pP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14185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96135" y="47392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SCOPE</a:t>
            </a:r>
          </a:p>
        </p:txBody>
      </p:sp>
      <p:sp>
        <p:nvSpPr>
          <p:cNvPr id="4" name="Rectangle 3"/>
          <p:cNvSpPr/>
          <p:nvPr/>
        </p:nvSpPr>
        <p:spPr>
          <a:xfrm>
            <a:off x="1107583" y="1928590"/>
            <a:ext cx="9620518" cy="987706"/>
          </a:xfrm>
          <a:prstGeom prst="rect">
            <a:avLst/>
          </a:prstGeom>
        </p:spPr>
        <p:txBody>
          <a:bodyPr wrap="square">
            <a:spAutoFit/>
          </a:bodyPr>
          <a:lstStyle/>
          <a:p>
            <a:pPr algn="just">
              <a:lnSpc>
                <a:spcPct val="150000"/>
              </a:lnSpc>
              <a:spcAft>
                <a:spcPts val="800"/>
              </a:spcAft>
            </a:pPr>
            <a:endParaRPr lang="en-IN" sz="2000" dirty="0">
              <a:effectLst/>
              <a:latin typeface="Times New Roman" panose="02020603050405020304" pitchFamily="18" charset="0"/>
              <a:ea typeface="Times New Roman" panose="02020603050405020304" pitchFamily="18" charset="0"/>
            </a:endParaRPr>
          </a:p>
          <a:p>
            <a:pPr algn="just">
              <a:lnSpc>
                <a:spcPct val="150000"/>
              </a:lnSpc>
              <a:spcAft>
                <a:spcPts val="800"/>
              </a:spcAft>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D296B6E-1EE3-5398-9F75-7539EFA417D0}"/>
              </a:ext>
            </a:extLst>
          </p:cNvPr>
          <p:cNvSpPr txBox="1"/>
          <p:nvPr/>
        </p:nvSpPr>
        <p:spPr>
          <a:xfrm>
            <a:off x="1107582" y="1811894"/>
            <a:ext cx="9878865" cy="2535566"/>
          </a:xfrm>
          <a:prstGeom prst="rect">
            <a:avLst/>
          </a:prstGeom>
          <a:noFill/>
        </p:spPr>
        <p:txBody>
          <a:bodyPr wrap="square">
            <a:spAutoFit/>
          </a:bodyPr>
          <a:lstStyle/>
          <a:p>
            <a:pPr algn="just">
              <a:lnSpc>
                <a:spcPct val="150000"/>
              </a:lnSpc>
            </a:pPr>
            <a:r>
              <a:rPr lang="en-US" dirty="0"/>
              <a:t>MEDEASE targets users, doctors, and medical shops, providing tailored functionalities for each. It allows users to book appointments, view doctor details, and locate nearby medical shops. Doctors can manage their appointments with real-time updates, and medical shops can assist users with medicine searches. The app’s admin feature ensures smooth operation by managing data related to doctors and shops. MEDEASE is scalable to incorporate additional healthcare functionalities in the future.</a:t>
            </a:r>
            <a:endParaRPr lang="en-IN" dirty="0"/>
          </a:p>
          <a:p>
            <a:pPr algn="just">
              <a:lnSpc>
                <a:spcPct val="150000"/>
              </a:lnSpc>
            </a:pP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9991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47776" y="8144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MOTIVATION</a:t>
            </a:r>
          </a:p>
        </p:txBody>
      </p:sp>
      <p:sp>
        <p:nvSpPr>
          <p:cNvPr id="4" name="TextBox 3">
            <a:extLst>
              <a:ext uri="{FF2B5EF4-FFF2-40B4-BE49-F238E27FC236}">
                <a16:creationId xmlns:a16="http://schemas.microsoft.com/office/drawing/2014/main" id="{118458AA-7756-2A16-9C04-13AEA1812C6D}"/>
              </a:ext>
            </a:extLst>
          </p:cNvPr>
          <p:cNvSpPr txBox="1"/>
          <p:nvPr/>
        </p:nvSpPr>
        <p:spPr>
          <a:xfrm>
            <a:off x="1375044" y="2001667"/>
            <a:ext cx="9529517" cy="4457952"/>
          </a:xfrm>
          <a:prstGeom prst="rect">
            <a:avLst/>
          </a:prstGeom>
          <a:noFill/>
        </p:spPr>
        <p:txBody>
          <a:bodyPr wrap="square">
            <a:spAutoFit/>
          </a:bodyPr>
          <a:lstStyle/>
          <a:p>
            <a:pPr algn="just">
              <a:lnSpc>
                <a:spcPct val="150000"/>
              </a:lnSpc>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The growing challenges in accessing timely healthcare services and managing appointments inspired the development of a centralized solution. Patients often face long waits, difficulty in locating medical shops, and limited communication with healthcare providers. MEDEASE aims to bridge these gaps by leveraging technology. The app enhances user convenience while reducing the inefficiencies of the manual healthcare system. It provides a streamlined approach to healthcare for all stakeholders.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78052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63308" y="46916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9C70EFC5-668D-84C6-15B6-208E5BA4DB83}"/>
              </a:ext>
            </a:extLst>
          </p:cNvPr>
          <p:cNvSpPr txBox="1"/>
          <p:nvPr/>
        </p:nvSpPr>
        <p:spPr>
          <a:xfrm>
            <a:off x="1261461" y="1564439"/>
            <a:ext cx="9973296" cy="3376309"/>
          </a:xfrm>
          <a:prstGeom prst="rect">
            <a:avLst/>
          </a:prstGeom>
          <a:noFill/>
        </p:spPr>
        <p:txBody>
          <a:bodyPr wrap="square">
            <a:spAutoFit/>
          </a:bodyPr>
          <a:lstStyle/>
          <a:p>
            <a:pPr algn="just">
              <a:lnSpc>
                <a:spcPct val="150000"/>
              </a:lnSpc>
              <a:spcAft>
                <a:spcPts val="800"/>
              </a:spcAft>
            </a:pPr>
            <a:r>
              <a:rPr lang="en-IN" dirty="0"/>
              <a:t>In the modern world, access to healthcare services is crucial, yet often hindered by inefficiencies in traditional systems. Long waiting times, difficulties in finding the right doctors, and limited accessibility to medical shops make healthcare challenging for many. These issues highlight the need for a technology-driven solution that simplifies and streamlines healthcare management. MEDEASE is an Android-based application designed to address these challenges by creating a centralized platform that connects patients, doctors, and medical shops. The app provides a user-friendly interface where users can register, log in, and conveniently book appointments with doctors. Additionally, they can locate nearby medical shops and search for medicines in real-time. </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42790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63308" y="46916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9C70EFC5-668D-84C6-15B6-208E5BA4DB83}"/>
              </a:ext>
            </a:extLst>
          </p:cNvPr>
          <p:cNvSpPr txBox="1"/>
          <p:nvPr/>
        </p:nvSpPr>
        <p:spPr>
          <a:xfrm>
            <a:off x="1261461" y="1564439"/>
            <a:ext cx="9973296" cy="5134739"/>
          </a:xfrm>
          <a:prstGeom prst="rect">
            <a:avLst/>
          </a:prstGeom>
          <a:noFill/>
        </p:spPr>
        <p:txBody>
          <a:bodyPr wrap="square">
            <a:spAutoFit/>
          </a:bodyPr>
          <a:lstStyle/>
          <a:p>
            <a:pPr algn="just">
              <a:lnSpc>
                <a:spcPct val="150000"/>
              </a:lnSpc>
              <a:spcAft>
                <a:spcPts val="800"/>
              </a:spcAft>
            </a:pPr>
            <a:r>
              <a:rPr lang="en-IN" dirty="0" smtClean="0"/>
              <a:t>This </a:t>
            </a:r>
            <a:r>
              <a:rPr lang="en-IN" dirty="0"/>
              <a:t>functionality reduces delays and improves access to essential healthcare services. Doctors benefit from MEDEASE through an efficient appointment management system, allowing them to view, accept, or reject appointment requests directly through the app. This reduces administrative burdens and enhances the patient experience. Medical shops can use the platform to list and update medicine availability, making it easier for users to find required medicines without hassle. The admin feature ensures smooth system operations by enabling administrators to add and manage doctor and medical shop profiles. This centralized control helps maintain the platform’s reliability and efficiency. MEDEASE aims to revolutionize healthcare by integrating technology into everyday health management. The app eliminates inefficiencies of the manual system, enhances communication between stakeholders, and ensures timely access to healthcare resources. With its scalable architecture, MEDEASE is well-positioned to incorporate additional features and expand its scope, ultimately contributing to better healthcare outcomes.</a:t>
            </a:r>
          </a:p>
          <a:p>
            <a:pPr algn="just">
              <a:lnSpc>
                <a:spcPct val="150000"/>
              </a:lnSpc>
              <a:spcAft>
                <a:spcPts val="800"/>
              </a:spcAft>
            </a:pP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41081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73591" y="46008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sp>
        <p:nvSpPr>
          <p:cNvPr id="5" name="Rectangle 1"/>
          <p:cNvSpPr>
            <a:spLocks noChangeArrowheads="1"/>
          </p:cNvSpPr>
          <p:nvPr/>
        </p:nvSpPr>
        <p:spPr bwMode="auto">
          <a:xfrm>
            <a:off x="4483100" y="25574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2" name="Table 1"/>
          <p:cNvGraphicFramePr>
            <a:graphicFrameLocks noGrp="1"/>
          </p:cNvGraphicFramePr>
          <p:nvPr>
            <p:extLst>
              <p:ext uri="{D42A27DB-BD31-4B8C-83A1-F6EECF244321}">
                <p14:modId xmlns:p14="http://schemas.microsoft.com/office/powerpoint/2010/main" val="935283898"/>
              </p:ext>
            </p:extLst>
          </p:nvPr>
        </p:nvGraphicFramePr>
        <p:xfrm>
          <a:off x="886692" y="1390966"/>
          <a:ext cx="10280074" cy="4540532"/>
        </p:xfrm>
        <a:graphic>
          <a:graphicData uri="http://schemas.openxmlformats.org/drawingml/2006/table">
            <a:tbl>
              <a:tblPr/>
              <a:tblGrid>
                <a:gridCol w="434579">
                  <a:extLst>
                    <a:ext uri="{9D8B030D-6E8A-4147-A177-3AD203B41FA5}">
                      <a16:colId xmlns:a16="http://schemas.microsoft.com/office/drawing/2014/main" val="1842315030"/>
                    </a:ext>
                  </a:extLst>
                </a:gridCol>
                <a:gridCol w="1918148">
                  <a:extLst>
                    <a:ext uri="{9D8B030D-6E8A-4147-A177-3AD203B41FA5}">
                      <a16:colId xmlns:a16="http://schemas.microsoft.com/office/drawing/2014/main" val="1885213602"/>
                    </a:ext>
                  </a:extLst>
                </a:gridCol>
                <a:gridCol w="2487598">
                  <a:extLst>
                    <a:ext uri="{9D8B030D-6E8A-4147-A177-3AD203B41FA5}">
                      <a16:colId xmlns:a16="http://schemas.microsoft.com/office/drawing/2014/main" val="1489023105"/>
                    </a:ext>
                  </a:extLst>
                </a:gridCol>
                <a:gridCol w="5439749">
                  <a:extLst>
                    <a:ext uri="{9D8B030D-6E8A-4147-A177-3AD203B41FA5}">
                      <a16:colId xmlns:a16="http://schemas.microsoft.com/office/drawing/2014/main" val="276165050"/>
                    </a:ext>
                  </a:extLst>
                </a:gridCol>
              </a:tblGrid>
              <a:tr h="192876">
                <a:tc>
                  <a:txBody>
                    <a:bodyPr/>
                    <a:lstStyle/>
                    <a:p>
                      <a:pPr algn="ctr"/>
                      <a:r>
                        <a:rPr lang="en-IN" sz="1400" b="1">
                          <a:latin typeface="Times New Roman" panose="02020603050405020304" pitchFamily="18" charset="0"/>
                          <a:cs typeface="Times New Roman" panose="02020603050405020304" pitchFamily="18" charset="0"/>
                        </a:rPr>
                        <a:t>S.No</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a:latin typeface="Times New Roman" panose="02020603050405020304" pitchFamily="18" charset="0"/>
                          <a:cs typeface="Times New Roman" panose="02020603050405020304" pitchFamily="18" charset="0"/>
                        </a:rPr>
                        <a:t>Name</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a:latin typeface="Times New Roman" panose="02020603050405020304" pitchFamily="18" charset="0"/>
                          <a:cs typeface="Times New Roman" panose="02020603050405020304" pitchFamily="18" charset="0"/>
                        </a:rPr>
                        <a:t>Title</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dirty="0">
                          <a:latin typeface="Times New Roman" panose="02020603050405020304" pitchFamily="18" charset="0"/>
                          <a:cs typeface="Times New Roman" panose="02020603050405020304" pitchFamily="18" charset="0"/>
                        </a:rPr>
                        <a:t>Outcome</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9631824"/>
                  </a:ext>
                </a:extLst>
              </a:tr>
              <a:tr h="916162">
                <a:tc>
                  <a:txBody>
                    <a:bodyPr/>
                    <a:lstStyle/>
                    <a:p>
                      <a:r>
                        <a:rPr lang="en-IN" sz="1400">
                          <a:latin typeface="Times New Roman" panose="02020603050405020304" pitchFamily="18" charset="0"/>
                          <a:cs typeface="Times New Roman" panose="02020603050405020304" pitchFamily="18" charset="0"/>
                        </a:rPr>
                        <a:t>1</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latin typeface="Times New Roman" panose="02020603050405020304" pitchFamily="18" charset="0"/>
                          <a:cs typeface="Times New Roman" panose="02020603050405020304" pitchFamily="18" charset="0"/>
                        </a:rPr>
                        <a:t>Anushka Goel and Udita Taneja (2023)</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The transformative potential of mHealth applications in healthcare delivery</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Explores trends, challenges, and opportunities of mHealth; highlights real-time access enhancing patient outcomes.</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6154775"/>
                  </a:ext>
                </a:extLst>
              </a:tr>
              <a:tr h="771505">
                <a:tc>
                  <a:txBody>
                    <a:bodyPr/>
                    <a:lstStyle/>
                    <a:p>
                      <a:r>
                        <a:rPr lang="en-IN" sz="1400">
                          <a:latin typeface="Times New Roman" panose="02020603050405020304" pitchFamily="18" charset="0"/>
                          <a:cs typeface="Times New Roman" panose="02020603050405020304" pitchFamily="18" charset="0"/>
                        </a:rPr>
                        <a:t>2</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latin typeface="Times New Roman" panose="02020603050405020304" pitchFamily="18" charset="0"/>
                          <a:cs typeface="Times New Roman" panose="02020603050405020304" pitchFamily="18" charset="0"/>
                        </a:rPr>
                        <a:t>Yazeed Yasin Ghadi et al. (2024)</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Integration of 5G and mobile edge computing in mHealth applications</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Discusses secure, scalable, and efficient mHealth systems with advancements in 5G and edge computing.</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2970853"/>
                  </a:ext>
                </a:extLst>
              </a:tr>
              <a:tr h="916162">
                <a:tc>
                  <a:txBody>
                    <a:bodyPr/>
                    <a:lstStyle/>
                    <a:p>
                      <a:r>
                        <a:rPr lang="en-IN" sz="1400">
                          <a:latin typeface="Times New Roman" panose="02020603050405020304" pitchFamily="18" charset="0"/>
                          <a:cs typeface="Times New Roman" panose="02020603050405020304" pitchFamily="18" charset="0"/>
                        </a:rPr>
                        <a:t>3</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El-Sherif and Mohamed Abouzid (2022)</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Global impact of mHealth applications on public health</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Maps mHealth technologies' effectiveness in addressing global health challenges and universal applicability.</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1132149"/>
                  </a:ext>
                </a:extLst>
              </a:tr>
              <a:tr h="916162">
                <a:tc>
                  <a:txBody>
                    <a:bodyPr/>
                    <a:lstStyle/>
                    <a:p>
                      <a:r>
                        <a:rPr lang="en-IN" sz="1400">
                          <a:latin typeface="Times New Roman" panose="02020603050405020304" pitchFamily="18" charset="0"/>
                          <a:cs typeface="Times New Roman" panose="02020603050405020304" pitchFamily="18" charset="0"/>
                        </a:rPr>
                        <a:t>4</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it-IT" sz="1400">
                          <a:latin typeface="Times New Roman" panose="02020603050405020304" pitchFamily="18" charset="0"/>
                          <a:cs typeface="Times New Roman" panose="02020603050405020304" pitchFamily="18" charset="0"/>
                        </a:rPr>
                        <a:t>Balla Rama Devi et al. (2015)</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Use of mHealth applications in long-term management of HIV/AIDS and tuberculosis</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Highlights the role of mHealth in chronic disease management through continuous patient support and monitoring.</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3498865"/>
                  </a:ext>
                </a:extLst>
              </a:tr>
              <a:tr h="771505">
                <a:tc>
                  <a:txBody>
                    <a:bodyPr/>
                    <a:lstStyle/>
                    <a:p>
                      <a:r>
                        <a:rPr lang="en-IN" sz="1400">
                          <a:latin typeface="Times New Roman" panose="02020603050405020304" pitchFamily="18" charset="0"/>
                          <a:cs typeface="Times New Roman" panose="02020603050405020304" pitchFamily="18" charset="0"/>
                        </a:rPr>
                        <a:t>5</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latin typeface="Times New Roman" panose="02020603050405020304" pitchFamily="18" charset="0"/>
                          <a:cs typeface="Times New Roman" panose="02020603050405020304" pitchFamily="18" charset="0"/>
                        </a:rPr>
                        <a:t>Shaojing Fan et al. (2023)</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latin typeface="Times New Roman" panose="02020603050405020304" pitchFamily="18" charset="0"/>
                          <a:cs typeface="Times New Roman" panose="02020603050405020304" pitchFamily="18" charset="0"/>
                        </a:rPr>
                        <a:t>Factors influencing user willingness to adopt mHealth applications</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Times New Roman" panose="02020603050405020304" pitchFamily="18" charset="0"/>
                          <a:cs typeface="Times New Roman" panose="02020603050405020304" pitchFamily="18" charset="0"/>
                        </a:rPr>
                        <a:t>Identifies barriers and motivators for </a:t>
                      </a:r>
                      <a:r>
                        <a:rPr lang="en-US" sz="1400" dirty="0" err="1">
                          <a:latin typeface="Times New Roman" panose="02020603050405020304" pitchFamily="18" charset="0"/>
                          <a:cs typeface="Times New Roman" panose="02020603050405020304" pitchFamily="18" charset="0"/>
                        </a:rPr>
                        <a:t>mHealth</a:t>
                      </a:r>
                      <a:r>
                        <a:rPr lang="en-US" sz="1400" dirty="0">
                          <a:latin typeface="Times New Roman" panose="02020603050405020304" pitchFamily="18" charset="0"/>
                          <a:cs typeface="Times New Roman" panose="02020603050405020304" pitchFamily="18" charset="0"/>
                        </a:rPr>
                        <a:t> adoption, offering insights for developers and policymakers.</a:t>
                      </a:r>
                    </a:p>
                  </a:txBody>
                  <a:tcPr marL="35676" marR="35676" marT="17838" marB="1783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0547995"/>
                  </a:ext>
                </a:extLst>
              </a:tr>
            </a:tbl>
          </a:graphicData>
        </a:graphic>
      </p:graphicFrame>
      <p:sp>
        <p:nvSpPr>
          <p:cNvPr id="6" name="Rectangle 1"/>
          <p:cNvSpPr>
            <a:spLocks noChangeArrowheads="1"/>
          </p:cNvSpPr>
          <p:nvPr/>
        </p:nvSpPr>
        <p:spPr bwMode="auto">
          <a:xfrm>
            <a:off x="4222750" y="25574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683658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73591" y="46008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Modules</a:t>
            </a:r>
          </a:p>
        </p:txBody>
      </p:sp>
      <p:sp>
        <p:nvSpPr>
          <p:cNvPr id="4" name="Rectangle 3"/>
          <p:cNvSpPr/>
          <p:nvPr/>
        </p:nvSpPr>
        <p:spPr>
          <a:xfrm>
            <a:off x="845127" y="1569199"/>
            <a:ext cx="10390909" cy="4247317"/>
          </a:xfrm>
          <a:prstGeom prst="rect">
            <a:avLst/>
          </a:prstGeom>
        </p:spPr>
        <p:txBody>
          <a:bodyPr wrap="square">
            <a:spAutoFit/>
          </a:bodyPr>
          <a:lstStyle/>
          <a:p>
            <a:pPr marL="228600">
              <a:lnSpc>
                <a:spcPct val="150000"/>
              </a:lnSpc>
              <a:spcAft>
                <a:spcPts val="0"/>
              </a:spcAft>
            </a:pPr>
            <a:r>
              <a:rPr lang="en-US" b="1" dirty="0">
                <a:latin typeface="Times New Roman" panose="02020603050405020304" pitchFamily="18" charset="0"/>
                <a:ea typeface="Times New Roman" panose="02020603050405020304" pitchFamily="18" charset="0"/>
              </a:rPr>
              <a:t>Admin Module:</a:t>
            </a:r>
            <a:r>
              <a:rPr lang="en-US" dirty="0">
                <a:latin typeface="Times New Roman" panose="02020603050405020304" pitchFamily="18" charset="0"/>
                <a:ea typeface="Times New Roman" panose="02020603050405020304" pitchFamily="18" charset="0"/>
              </a:rPr>
              <a:t> The Admin module oversees system operations, allowing administrators to add, update, and manage doctors and medical shops to ensure a well-maintained platform.</a:t>
            </a:r>
            <a:endParaRPr lang="en-IN" sz="1600" dirty="0">
              <a:latin typeface="Times New Roman" panose="02020603050405020304" pitchFamily="18" charset="0"/>
              <a:ea typeface="Times New Roman" panose="02020603050405020304" pitchFamily="18" charset="0"/>
            </a:endParaRPr>
          </a:p>
          <a:p>
            <a:pPr marL="228600">
              <a:lnSpc>
                <a:spcPct val="150000"/>
              </a:lnSpc>
              <a:spcAft>
                <a:spcPts val="0"/>
              </a:spcAft>
            </a:pPr>
            <a:r>
              <a:rPr lang="en-US" b="1" dirty="0">
                <a:latin typeface="Times New Roman" panose="02020603050405020304" pitchFamily="18" charset="0"/>
                <a:ea typeface="Times New Roman" panose="02020603050405020304" pitchFamily="18" charset="0"/>
              </a:rPr>
              <a:t>Doctor Module:</a:t>
            </a:r>
            <a:r>
              <a:rPr lang="en-US" dirty="0">
                <a:latin typeface="Times New Roman" panose="02020603050405020304" pitchFamily="18" charset="0"/>
                <a:ea typeface="Times New Roman" panose="02020603050405020304" pitchFamily="18" charset="0"/>
              </a:rPr>
              <a:t> The </a:t>
            </a:r>
            <a:r>
              <a:rPr lang="en-US" b="1" dirty="0">
                <a:latin typeface="Times New Roman" panose="02020603050405020304" pitchFamily="18" charset="0"/>
                <a:ea typeface="Times New Roman" panose="02020603050405020304" pitchFamily="18" charset="0"/>
              </a:rPr>
              <a:t>Doctor</a:t>
            </a:r>
            <a:r>
              <a:rPr lang="en-US" dirty="0">
                <a:latin typeface="Times New Roman" panose="02020603050405020304" pitchFamily="18" charset="0"/>
                <a:ea typeface="Times New Roman" panose="02020603050405020304" pitchFamily="18" charset="0"/>
              </a:rPr>
              <a:t> module enables healthcare providers to log in, view patient appointments, and manage them by accepting or rejecting requests, ensuring efficient scheduling.</a:t>
            </a:r>
            <a:endParaRPr lang="en-IN" sz="1600" dirty="0">
              <a:latin typeface="Times New Roman" panose="02020603050405020304" pitchFamily="18" charset="0"/>
              <a:ea typeface="Times New Roman" panose="02020603050405020304" pitchFamily="18" charset="0"/>
            </a:endParaRPr>
          </a:p>
          <a:p>
            <a:pPr marL="228600">
              <a:lnSpc>
                <a:spcPct val="150000"/>
              </a:lnSpc>
              <a:spcAft>
                <a:spcPts val="0"/>
              </a:spcAft>
            </a:pPr>
            <a:r>
              <a:rPr lang="en-IN"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User Module:</a:t>
            </a:r>
            <a:r>
              <a:rPr lang="en-US" dirty="0">
                <a:latin typeface="Times New Roman" panose="02020603050405020304" pitchFamily="18" charset="0"/>
                <a:ea typeface="Times New Roman" panose="02020603050405020304" pitchFamily="18" charset="0"/>
              </a:rPr>
              <a:t> the User module is designed for patients to register, log in, view doctor profiles, schedule appointments, and locate nearby medical shops. </a:t>
            </a:r>
            <a:endParaRPr lang="en-IN" sz="1600" dirty="0">
              <a:latin typeface="Times New Roman" panose="02020603050405020304" pitchFamily="18" charset="0"/>
              <a:ea typeface="Times New Roman" panose="02020603050405020304" pitchFamily="18" charset="0"/>
            </a:endParaRPr>
          </a:p>
          <a:p>
            <a:pPr marL="228600">
              <a:lnSpc>
                <a:spcPct val="150000"/>
              </a:lnSpc>
              <a:spcAft>
                <a:spcPts val="0"/>
              </a:spcAft>
            </a:pPr>
            <a:r>
              <a:rPr lang="en-US" dirty="0">
                <a:latin typeface="Times New Roman" panose="02020603050405020304" pitchFamily="18" charset="0"/>
                <a:ea typeface="Times New Roman" panose="02020603050405020304" pitchFamily="18" charset="0"/>
              </a:rPr>
              <a:t> </a:t>
            </a:r>
            <a:r>
              <a:rPr lang="en-US" b="1" dirty="0">
                <a:latin typeface="Times New Roman" panose="02020603050405020304" pitchFamily="18" charset="0"/>
                <a:ea typeface="Times New Roman" panose="02020603050405020304" pitchFamily="18" charset="0"/>
              </a:rPr>
              <a:t>Hospital Module:</a:t>
            </a:r>
            <a:r>
              <a:rPr lang="en-US" dirty="0">
                <a:latin typeface="Times New Roman" panose="02020603050405020304" pitchFamily="18" charset="0"/>
                <a:ea typeface="Times New Roman" panose="02020603050405020304" pitchFamily="18" charset="0"/>
              </a:rPr>
              <a:t> The </a:t>
            </a:r>
            <a:r>
              <a:rPr lang="en-US" b="1" dirty="0">
                <a:latin typeface="Times New Roman" panose="02020603050405020304" pitchFamily="18" charset="0"/>
                <a:ea typeface="Times New Roman" panose="02020603050405020304" pitchFamily="18" charset="0"/>
              </a:rPr>
              <a:t>Doctor</a:t>
            </a:r>
            <a:r>
              <a:rPr lang="en-US" dirty="0">
                <a:latin typeface="Times New Roman" panose="02020603050405020304" pitchFamily="18" charset="0"/>
                <a:ea typeface="Times New Roman" panose="02020603050405020304" pitchFamily="18" charset="0"/>
              </a:rPr>
              <a:t> module enables healthcare providers to log in, view patient appointments, and manage them by accepting or rejecting requests, ensuring efficient scheduling.</a:t>
            </a:r>
            <a:endParaRPr lang="en-IN" sz="1600" dirty="0">
              <a:latin typeface="Times New Roman" panose="02020603050405020304" pitchFamily="18" charset="0"/>
              <a:ea typeface="Times New Roman" panose="02020603050405020304" pitchFamily="18" charset="0"/>
            </a:endParaRPr>
          </a:p>
          <a:p>
            <a:pPr marL="228600">
              <a:lnSpc>
                <a:spcPct val="150000"/>
              </a:lnSpc>
              <a:spcAft>
                <a:spcPts val="0"/>
              </a:spcAft>
            </a:pPr>
            <a:r>
              <a:rPr lang="en-US" b="1" dirty="0">
                <a:latin typeface="Times New Roman" panose="02020603050405020304" pitchFamily="18" charset="0"/>
                <a:ea typeface="Times New Roman" panose="02020603050405020304" pitchFamily="18" charset="0"/>
              </a:rPr>
              <a:t>Medical shops module:</a:t>
            </a:r>
            <a:r>
              <a:rPr lang="en-US" dirty="0">
                <a:latin typeface="Times New Roman" panose="02020603050405020304" pitchFamily="18" charset="0"/>
                <a:ea typeface="Times New Roman" panose="02020603050405020304" pitchFamily="18" charset="0"/>
              </a:rPr>
              <a:t> The </a:t>
            </a:r>
            <a:r>
              <a:rPr lang="en-US" b="1" dirty="0">
                <a:latin typeface="Times New Roman" panose="02020603050405020304" pitchFamily="18" charset="0"/>
                <a:ea typeface="Times New Roman" panose="02020603050405020304" pitchFamily="18" charset="0"/>
              </a:rPr>
              <a:t>Medical Shops</a:t>
            </a:r>
            <a:r>
              <a:rPr lang="en-US" dirty="0">
                <a:latin typeface="Times New Roman" panose="02020603050405020304" pitchFamily="18" charset="0"/>
                <a:ea typeface="Times New Roman" panose="02020603050405020304" pitchFamily="18" charset="0"/>
              </a:rPr>
              <a:t> module provides functionality for shop owners to log in and list available medicines, allowing users to search for required medicines in real time.</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82401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762" y="1190445"/>
            <a:ext cx="10597720" cy="526212"/>
          </a:xfrm>
        </p:spPr>
        <p:txBody>
          <a:bodyPr>
            <a:normAutofit/>
          </a:bodyPr>
          <a:lstStyle/>
          <a:p>
            <a:pPr algn="ctr"/>
            <a:r>
              <a:rPr lang="en-US" sz="2400" b="1" dirty="0">
                <a:latin typeface="Times New Roman" panose="02020603050405020304" pitchFamily="18" charset="0"/>
                <a:cs typeface="Times New Roman" panose="02020603050405020304" pitchFamily="18" charset="0"/>
              </a:rPr>
              <a:t>Existing method:</a:t>
            </a:r>
          </a:p>
        </p:txBody>
      </p:sp>
      <p:sp>
        <p:nvSpPr>
          <p:cNvPr id="3" name="Content Placeholder 2"/>
          <p:cNvSpPr>
            <a:spLocks noGrp="1"/>
          </p:cNvSpPr>
          <p:nvPr>
            <p:ph idx="1"/>
          </p:nvPr>
        </p:nvSpPr>
        <p:spPr>
          <a:xfrm>
            <a:off x="1143000" y="2583180"/>
            <a:ext cx="9253603" cy="3477953"/>
          </a:xfrm>
        </p:spPr>
        <p:txBody>
          <a:bodyPr>
            <a:normAutofit fontScale="92500"/>
          </a:bodyPr>
          <a:lstStyle/>
          <a:p>
            <a:pPr algn="just">
              <a:lnSpc>
                <a:spcPct val="150000"/>
              </a:lnSpc>
              <a:spcAft>
                <a:spcPts val="800"/>
              </a:spcAft>
            </a:pPr>
            <a:r>
              <a:rPr lang="en-US" dirty="0"/>
              <a:t>The manual healthcare system faces significant inefficiencies, such as long waiting times for appointments due to lack of real-time scheduling and communication between patients and doctors. Patients often struggle to find nearby medical shops or check medicine availability, leading to delays in treatment. Additionally, managing records manually increases the risk of errors and administrative burdens, further complicating healthcare delivery.</a:t>
            </a:r>
            <a:endParaRPr lang="en-IN" dirty="0"/>
          </a:p>
          <a:p>
            <a:pPr algn="just">
              <a:lnSpc>
                <a:spcPct val="150000"/>
              </a:lnSpc>
              <a:spcAft>
                <a:spcPts val="800"/>
              </a:spcAft>
            </a:pP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190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6098" y="800892"/>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2400" b="1" dirty="0">
              <a:latin typeface="Times New Roman" panose="02020603050405020304" pitchFamily="18" charset="0"/>
              <a:cs typeface="Times New Roman" panose="02020603050405020304" pitchFamily="18" charset="0"/>
            </a:endParaRPr>
          </a:p>
          <a:p>
            <a:pPr algn="ctr"/>
            <a:r>
              <a:rPr lang="en-US" sz="2400" b="1" dirty="0">
                <a:solidFill>
                  <a:schemeClr val="tx1"/>
                </a:solidFill>
                <a:latin typeface="Times New Roman" panose="02020603050405020304" pitchFamily="18" charset="0"/>
                <a:cs typeface="Times New Roman" panose="02020603050405020304" pitchFamily="18" charset="0"/>
              </a:rPr>
              <a:t>Disadvantages in Existing method:</a:t>
            </a:r>
          </a:p>
        </p:txBody>
      </p:sp>
      <p:sp>
        <p:nvSpPr>
          <p:cNvPr id="5" name="Content Placeholder 2"/>
          <p:cNvSpPr txBox="1">
            <a:spLocks/>
          </p:cNvSpPr>
          <p:nvPr/>
        </p:nvSpPr>
        <p:spPr>
          <a:xfrm>
            <a:off x="1763560" y="2796063"/>
            <a:ext cx="8915400" cy="1980156"/>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lvl="0" algn="just">
              <a:lnSpc>
                <a:spcPct val="150000"/>
              </a:lnSpc>
              <a:spcAft>
                <a:spcPts val="1000"/>
              </a:spcAft>
              <a:buFont typeface="Symbol" panose="05050102010706020507" pitchFamily="18" charset="2"/>
              <a:buChar char=""/>
            </a:pPr>
            <a:r>
              <a:rPr lang="en-US" dirty="0" smtClean="0">
                <a:solidFill>
                  <a:schemeClr val="tx1"/>
                </a:solidFill>
                <a:latin typeface="Times New Roman" panose="02020603050405020304" pitchFamily="18" charset="0"/>
                <a:cs typeface="Times New Roman" panose="02020603050405020304" pitchFamily="18" charset="0"/>
              </a:rPr>
              <a:t>Lack </a:t>
            </a:r>
            <a:r>
              <a:rPr lang="en-US" dirty="0">
                <a:solidFill>
                  <a:schemeClr val="tx1"/>
                </a:solidFill>
                <a:latin typeface="Times New Roman" panose="02020603050405020304" pitchFamily="18" charset="0"/>
                <a:cs typeface="Times New Roman" panose="02020603050405020304" pitchFamily="18" charset="0"/>
              </a:rPr>
              <a:t>of real-time scheduling leads to long waiting times and communication gaps between patients and doctors.</a:t>
            </a:r>
          </a:p>
          <a:p>
            <a:pPr lvl="0" algn="just">
              <a:lnSpc>
                <a:spcPct val="150000"/>
              </a:lnSpc>
              <a:spcAft>
                <a:spcPts val="1000"/>
              </a:spcAft>
              <a:buFont typeface="Symbol" panose="05050102010706020507" pitchFamily="18" charset="2"/>
              <a:buChar char=""/>
            </a:pPr>
            <a:r>
              <a:rPr lang="en-US" dirty="0" smtClean="0">
                <a:solidFill>
                  <a:schemeClr val="tx1"/>
                </a:solidFill>
                <a:latin typeface="Times New Roman" panose="02020603050405020304" pitchFamily="18" charset="0"/>
                <a:cs typeface="Times New Roman" panose="02020603050405020304" pitchFamily="18" charset="0"/>
              </a:rPr>
              <a:t>Difficulty </a:t>
            </a:r>
            <a:r>
              <a:rPr lang="en-US" dirty="0">
                <a:solidFill>
                  <a:schemeClr val="tx1"/>
                </a:solidFill>
                <a:latin typeface="Times New Roman" panose="02020603050405020304" pitchFamily="18" charset="0"/>
                <a:cs typeface="Times New Roman" panose="02020603050405020304" pitchFamily="18" charset="0"/>
              </a:rPr>
              <a:t>in finding nearby medical shops or checking medicine availability delays treatment.</a:t>
            </a:r>
          </a:p>
          <a:p>
            <a:pPr lvl="0" algn="just">
              <a:lnSpc>
                <a:spcPct val="150000"/>
              </a:lnSpc>
              <a:spcAft>
                <a:spcPts val="1000"/>
              </a:spcAft>
              <a:buFont typeface="Symbol" panose="05050102010706020507" pitchFamily="18" charset="2"/>
              <a:buChar char=""/>
            </a:pPr>
            <a:r>
              <a:rPr lang="en-US" dirty="0" smtClean="0">
                <a:solidFill>
                  <a:schemeClr val="tx1"/>
                </a:solidFill>
                <a:latin typeface="Times New Roman" panose="02020603050405020304" pitchFamily="18" charset="0"/>
                <a:cs typeface="Times New Roman" panose="02020603050405020304" pitchFamily="18" charset="0"/>
              </a:rPr>
              <a:t>Manual </a:t>
            </a:r>
            <a:r>
              <a:rPr lang="en-US" dirty="0">
                <a:solidFill>
                  <a:schemeClr val="tx1"/>
                </a:solidFill>
                <a:latin typeface="Times New Roman" panose="02020603050405020304" pitchFamily="18" charset="0"/>
                <a:cs typeface="Times New Roman" panose="02020603050405020304" pitchFamily="18" charset="0"/>
              </a:rPr>
              <a:t>management of records increases the likelihood of errors and administrative inefficiencies.</a:t>
            </a:r>
          </a:p>
          <a:p>
            <a:pPr lvl="0" algn="just">
              <a:lnSpc>
                <a:spcPct val="150000"/>
              </a:lnSpc>
              <a:spcAft>
                <a:spcPts val="1000"/>
              </a:spcAft>
              <a:buFont typeface="Symbol" panose="05050102010706020507" pitchFamily="18" charset="2"/>
              <a:buChar char=""/>
            </a:pPr>
            <a:endParaRPr lang="en-US" dirty="0" smtClean="0">
              <a:solidFill>
                <a:schemeClr val="tx1"/>
              </a:solidFill>
              <a:latin typeface="Times New Roman" panose="02020603050405020304" pitchFamily="18" charset="0"/>
              <a:cs typeface="Times New Roman" panose="02020603050405020304" pitchFamily="18" charset="0"/>
            </a:endParaRPr>
          </a:p>
          <a:p>
            <a:pPr lvl="0" algn="just">
              <a:lnSpc>
                <a:spcPct val="150000"/>
              </a:lnSpc>
              <a:spcAft>
                <a:spcPts val="1000"/>
              </a:spcAft>
              <a:buFont typeface="Symbol" panose="05050102010706020507" pitchFamily="18" charset="2"/>
              <a:buChar char=""/>
            </a:pP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0301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270649" y="659969"/>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Proposed method:</a:t>
            </a:r>
          </a:p>
        </p:txBody>
      </p:sp>
      <p:sp>
        <p:nvSpPr>
          <p:cNvPr id="5" name="Content Placeholder 2"/>
          <p:cNvSpPr>
            <a:spLocks noGrp="1"/>
          </p:cNvSpPr>
          <p:nvPr>
            <p:ph idx="1"/>
          </p:nvPr>
        </p:nvSpPr>
        <p:spPr>
          <a:xfrm>
            <a:off x="1270650" y="2628900"/>
            <a:ext cx="9976470" cy="2857500"/>
          </a:xfrm>
        </p:spPr>
        <p:txBody>
          <a:bodyPr>
            <a:normAutofit fontScale="77500" lnSpcReduction="20000"/>
          </a:bodyPr>
          <a:lstStyle/>
          <a:p>
            <a:pPr algn="just">
              <a:lnSpc>
                <a:spcPct val="150000"/>
              </a:lnSpc>
              <a:spcAft>
                <a:spcPts val="800"/>
              </a:spcAft>
            </a:pPr>
            <a:r>
              <a:rPr lang="en-US" dirty="0"/>
              <a:t>The MEDEASE app is a centralized Android-based platform designed to enhance healthcare accessibility by integrating users, doctors, and medical shops. It allows users to register, log in, book doctor appointments, and locate medical shops. Doctors can manage appointments efficiently by accepting or rejecting them, while medical shops offer a searchable database for medicines. Admins oversee the system by adding and managing doctors and medical shops. The proposed system ensures convenience, real-time updates, and improved communication in healthcare services.</a:t>
            </a:r>
            <a:endParaRPr lang="en-IN" dirty="0"/>
          </a:p>
          <a:p>
            <a:pPr algn="just">
              <a:lnSpc>
                <a:spcPct val="150000"/>
              </a:lnSpc>
              <a:spcAft>
                <a:spcPts val="800"/>
              </a:spcAft>
            </a:pP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73521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257183" y="800892"/>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2400" b="1" dirty="0">
              <a:latin typeface="Times New Roman" panose="02020603050405020304" pitchFamily="18" charset="0"/>
              <a:cs typeface="Times New Roman" panose="02020603050405020304" pitchFamily="18" charset="0"/>
            </a:endParaRPr>
          </a:p>
          <a:p>
            <a:pPr algn="ctr"/>
            <a:r>
              <a:rPr lang="en-US" sz="2400" b="1" dirty="0">
                <a:solidFill>
                  <a:schemeClr val="tx1"/>
                </a:solidFill>
                <a:latin typeface="Times New Roman" panose="02020603050405020304" pitchFamily="18" charset="0"/>
                <a:cs typeface="Times New Roman" panose="02020603050405020304" pitchFamily="18" charset="0"/>
              </a:rPr>
              <a:t>Advantages of Proposed method:</a:t>
            </a:r>
            <a:r>
              <a:rPr lang="en-US" altLang="en-US" sz="2400" b="1" dirty="0">
                <a:latin typeface="Times New Roman" panose="02020603050405020304" pitchFamily="18" charset="0"/>
                <a:cs typeface="Times New Roman" panose="02020603050405020304" pitchFamily="18" charset="0"/>
              </a:rPr>
              <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1424091" y="2887408"/>
            <a:ext cx="9534853"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lvl="0">
              <a:lnSpc>
                <a:spcPct val="150000"/>
              </a:lnSpc>
              <a:buFont typeface="Arial" panose="020B0604020202020204" pitchFamily="34" charset="0"/>
              <a:buChar char="•"/>
            </a:pPr>
            <a:r>
              <a:rPr lang="en-US" sz="1600" dirty="0" smtClean="0">
                <a:latin typeface="Calibri" panose="020F0502020204030204" pitchFamily="34" charset="0"/>
                <a:ea typeface="Calibri" panose="020F0502020204030204" pitchFamily="34" charset="0"/>
                <a:cs typeface="Times New Roman" panose="02020603050405020304" pitchFamily="18" charset="0"/>
              </a:rPr>
              <a:t>Provides </a:t>
            </a:r>
            <a:r>
              <a:rPr lang="en-US" sz="1600" dirty="0">
                <a:latin typeface="Calibri" panose="020F0502020204030204" pitchFamily="34" charset="0"/>
                <a:ea typeface="Calibri" panose="020F0502020204030204" pitchFamily="34" charset="0"/>
                <a:cs typeface="Times New Roman" panose="02020603050405020304" pitchFamily="18" charset="0"/>
              </a:rPr>
              <a:t>users with easy access to doctors and medical shops, streamlining healthcare services on a single platform.</a:t>
            </a:r>
          </a:p>
          <a:p>
            <a:pPr lvl="0">
              <a:lnSpc>
                <a:spcPct val="150000"/>
              </a:lnSpc>
              <a:buFont typeface="Arial" panose="020B0604020202020204" pitchFamily="34" charset="0"/>
              <a:buChar char="•"/>
            </a:pPr>
            <a:r>
              <a:rPr lang="en-US" sz="1600" dirty="0" smtClean="0">
                <a:latin typeface="Calibri" panose="020F0502020204030204" pitchFamily="34" charset="0"/>
                <a:ea typeface="Calibri" panose="020F0502020204030204" pitchFamily="34" charset="0"/>
                <a:cs typeface="Times New Roman" panose="02020603050405020304" pitchFamily="18" charset="0"/>
              </a:rPr>
              <a:t>Enables </a:t>
            </a:r>
            <a:r>
              <a:rPr lang="en-US" sz="1600" dirty="0">
                <a:latin typeface="Calibri" panose="020F0502020204030204" pitchFamily="34" charset="0"/>
                <a:ea typeface="Calibri" panose="020F0502020204030204" pitchFamily="34" charset="0"/>
                <a:cs typeface="Times New Roman" panose="02020603050405020304" pitchFamily="18" charset="0"/>
              </a:rPr>
              <a:t>doctors to manage appointments in real time, improving patient flow and reducing waiting times.</a:t>
            </a:r>
          </a:p>
          <a:p>
            <a:pPr lvl="0">
              <a:lnSpc>
                <a:spcPct val="150000"/>
              </a:lnSpc>
              <a:buFont typeface="Arial" panose="020B0604020202020204" pitchFamily="34" charset="0"/>
              <a:buChar char="•"/>
            </a:pPr>
            <a:r>
              <a:rPr lang="en-US" sz="1600" dirty="0" smtClean="0">
                <a:latin typeface="Calibri" panose="020F0502020204030204" pitchFamily="34" charset="0"/>
                <a:ea typeface="Calibri" panose="020F0502020204030204" pitchFamily="34" charset="0"/>
                <a:cs typeface="Times New Roman" panose="02020603050405020304" pitchFamily="18" charset="0"/>
              </a:rPr>
              <a:t>Allows </a:t>
            </a:r>
            <a:r>
              <a:rPr lang="en-US" sz="1600" dirty="0">
                <a:latin typeface="Calibri" panose="020F0502020204030204" pitchFamily="34" charset="0"/>
                <a:ea typeface="Calibri" panose="020F0502020204030204" pitchFamily="34" charset="0"/>
                <a:cs typeface="Times New Roman" panose="02020603050405020304" pitchFamily="18" charset="0"/>
              </a:rPr>
              <a:t>users to quickly search for medicines in nearby medical shops, saving time and effort.</a:t>
            </a:r>
          </a:p>
          <a:p>
            <a:pPr lvl="0">
              <a:lnSpc>
                <a:spcPct val="150000"/>
              </a:lnSpc>
              <a:buFont typeface="Arial" panose="020B0604020202020204" pitchFamily="34" charset="0"/>
              <a:buChar char="•"/>
            </a:pPr>
            <a:r>
              <a:rPr lang="en-US" sz="1600" dirty="0" smtClean="0">
                <a:latin typeface="Calibri" panose="020F0502020204030204" pitchFamily="34" charset="0"/>
                <a:ea typeface="Calibri" panose="020F0502020204030204" pitchFamily="34" charset="0"/>
                <a:cs typeface="Times New Roman" panose="02020603050405020304" pitchFamily="18" charset="0"/>
              </a:rPr>
              <a:t>Simplifies </a:t>
            </a:r>
            <a:r>
              <a:rPr lang="en-US" sz="1600" dirty="0">
                <a:latin typeface="Calibri" panose="020F0502020204030204" pitchFamily="34" charset="0"/>
                <a:ea typeface="Calibri" panose="020F0502020204030204" pitchFamily="34" charset="0"/>
                <a:cs typeface="Times New Roman" panose="02020603050405020304" pitchFamily="18" charset="0"/>
              </a:rPr>
              <a:t>healthcare interactions through an intuitive and responsive app design for all stakeholders.</a:t>
            </a:r>
          </a:p>
          <a:p>
            <a:pPr lvl="0">
              <a:lnSpc>
                <a:spcPct val="150000"/>
              </a:lnSpc>
              <a:buFont typeface="Arial" panose="020B0604020202020204" pitchFamily="34" charset="0"/>
              <a:buChar char="•"/>
            </a:pPr>
            <a:r>
              <a:rPr lang="en-US" sz="1600" dirty="0">
                <a:latin typeface="Calibri" panose="020F0502020204030204" pitchFamily="34" charset="0"/>
                <a:ea typeface="Calibri" panose="020F0502020204030204" pitchFamily="34" charset="0"/>
                <a:cs typeface="Times New Roman" panose="02020603050405020304" pitchFamily="18" charset="0"/>
              </a:rPr>
              <a:t>	Offers admin tools to manage doctors and medical shops effectively, ensuring a well-maintained system.</a:t>
            </a:r>
          </a:p>
          <a:p>
            <a:pPr lvl="0">
              <a:lnSpc>
                <a:spcPct val="150000"/>
              </a:lnSpc>
              <a:buFont typeface="Arial" panose="020B0604020202020204" pitchFamily="34" charset="0"/>
              <a:buChar char="•"/>
            </a:pP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98751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274564" y="788944"/>
            <a:ext cx="8596668" cy="794197"/>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PROJECT FLLOW</a:t>
            </a: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105666" y="5642919"/>
            <a:ext cx="4934464"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a:t>
            </a:r>
            <a:r>
              <a:rPr lang="en-US" dirty="0">
                <a:latin typeface="Times New Roman" panose="02020603050405020304" pitchFamily="18" charset="0"/>
                <a:cs typeface="Times New Roman" panose="02020603050405020304" pitchFamily="18" charset="0"/>
              </a:rPr>
              <a:t>work Flow of Proposed system</a:t>
            </a:r>
          </a:p>
        </p:txBody>
      </p:sp>
      <p:pic>
        <p:nvPicPr>
          <p:cNvPr id="6" name="Picture 5"/>
          <p:cNvPicPr/>
          <p:nvPr/>
        </p:nvPicPr>
        <p:blipFill>
          <a:blip r:embed="rId2"/>
          <a:stretch>
            <a:fillRect/>
          </a:stretch>
        </p:blipFill>
        <p:spPr>
          <a:xfrm>
            <a:off x="2205120" y="1583141"/>
            <a:ext cx="7202116" cy="3966354"/>
          </a:xfrm>
          <a:prstGeom prst="rect">
            <a:avLst/>
          </a:prstGeom>
        </p:spPr>
      </p:pic>
    </p:spTree>
    <p:extLst>
      <p:ext uri="{BB962C8B-B14F-4D97-AF65-F5344CB8AC3E}">
        <p14:creationId xmlns:p14="http://schemas.microsoft.com/office/powerpoint/2010/main" val="3776700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4" name="Content Placeholder 2"/>
          <p:cNvSpPr txBox="1"/>
          <p:nvPr/>
        </p:nvSpPr>
        <p:spPr>
          <a:xfrm>
            <a:off x="2092735" y="2011149"/>
            <a:ext cx="8892944" cy="3576851"/>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0" indent="0" algn="just">
              <a:lnSpc>
                <a:spcPct val="150000"/>
              </a:lnSpc>
              <a:buNone/>
            </a:pPr>
            <a:r>
              <a:rPr lang="en-US" sz="1800" b="1" dirty="0">
                <a:solidFill>
                  <a:schemeClr val="accent3">
                    <a:lumMod val="50000"/>
                  </a:schemeClr>
                </a:solidFill>
                <a:latin typeface="Times New Roman" panose="02020603050405020304" pitchFamily="18" charset="0"/>
                <a:cs typeface="Times New Roman" panose="02020603050405020304" pitchFamily="18" charset="0"/>
              </a:rPr>
              <a:t>SOFTWARE REQUIREMENS</a:t>
            </a:r>
            <a:endParaRPr lang="en-US" sz="1800" dirty="0">
              <a:latin typeface="Times New Roman" panose="02020603050405020304" pitchFamily="18" charset="0"/>
              <a:cs typeface="Times New Roman" panose="02020603050405020304" pitchFamily="18" charset="0"/>
            </a:endParaRPr>
          </a:p>
          <a:p>
            <a:pPr marL="342900" lvl="0" indent="-342900" algn="just">
              <a:lnSpc>
                <a:spcPct val="150000"/>
              </a:lnSpc>
              <a:spcAft>
                <a:spcPts val="1000"/>
              </a:spcAft>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10	</a:t>
            </a:r>
          </a:p>
          <a:p>
            <a:pPr marL="342900" lvl="0" indent="-342900" algn="just">
              <a:lnSpc>
                <a:spcPct val="150000"/>
              </a:lnSpc>
              <a:spcAft>
                <a:spcPts val="1000"/>
              </a:spcAft>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JDK					-   Java(</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kotlin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50000"/>
              </a:lnSpc>
              <a:spcAft>
                <a:spcPts val="1000"/>
              </a:spcAft>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SDK					-   Android </a:t>
            </a:r>
          </a:p>
          <a:p>
            <a:pPr marL="342900" lvl="0" indent="-342900" algn="just">
              <a:lnSpc>
                <a:spcPct val="150000"/>
              </a:lnSpc>
              <a:spcAft>
                <a:spcPts val="1000"/>
              </a:spcAft>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IDE					- Android studio</a:t>
            </a:r>
          </a:p>
          <a:p>
            <a:pPr marL="342900" lvl="0" indent="-342900" algn="just">
              <a:lnSpc>
                <a:spcPct val="150000"/>
              </a:lnSpc>
              <a:spcAft>
                <a:spcPts val="1000"/>
              </a:spcAft>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Database				- my </a:t>
            </a:r>
            <a:r>
              <a:rPr lang="en-IN" sz="1800" dirty="0">
                <a:latin typeface="Times New Roman" panose="02020603050405020304" pitchFamily="18" charset="0"/>
                <a:ea typeface="Calibri" panose="020F0502020204030204" pitchFamily="34" charset="0"/>
                <a:cs typeface="Times New Roman" panose="02020603050405020304" pitchFamily="18" charset="0"/>
              </a:rPr>
              <a:t>SQL</a:t>
            </a:r>
            <a:endParaRPr lang="en-US" sz="1800" b="1"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endParaRPr lang="en-US" sz="1800" dirty="0">
              <a:latin typeface="Times New Roman" panose="02020603050405020304" pitchFamily="18" charset="0"/>
              <a:cs typeface="Times New Roman" panose="02020603050405020304" pitchFamily="18" charset="0"/>
            </a:endParaRPr>
          </a:p>
          <a:p>
            <a:pPr algn="just">
              <a:lnSpc>
                <a:spcPct val="150000"/>
              </a:lnSpc>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6637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p:nvPr/>
        </p:nvSpPr>
        <p:spPr>
          <a:xfrm>
            <a:off x="1275992" y="1215143"/>
            <a:ext cx="8596668" cy="3880773"/>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sz="1800" b="1" dirty="0">
                <a:solidFill>
                  <a:schemeClr val="accent3">
                    <a:lumMod val="50000"/>
                  </a:schemeClr>
                </a:solidFill>
                <a:latin typeface="Times New Roman" panose="02020603050405020304" pitchFamily="18" charset="0"/>
                <a:cs typeface="Times New Roman" panose="02020603050405020304" pitchFamily="18" charset="0"/>
              </a:rPr>
              <a:t>HARDWARE REQUIREMENTS</a:t>
            </a:r>
          </a:p>
          <a:p>
            <a:pPr marL="342900" lvl="0" indent="-342900" algn="just">
              <a:lnSpc>
                <a:spcPct val="115000"/>
              </a:lnSpc>
              <a:spcAft>
                <a:spcPts val="1000"/>
              </a:spcAft>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Processor                        -    I3/Intel Processor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RAM                              -    8 GB </a:t>
            </a:r>
            <a:endParaRPr lang="en-IN" sz="18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Hard Disk                      -    1TB</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80322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666" y="773719"/>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
        <p:nvSpPr>
          <p:cNvPr id="2" name="Rectangle 1"/>
          <p:cNvSpPr/>
          <p:nvPr/>
        </p:nvSpPr>
        <p:spPr>
          <a:xfrm>
            <a:off x="983673" y="1569543"/>
            <a:ext cx="10550236" cy="4484817"/>
          </a:xfrm>
          <a:prstGeom prst="rect">
            <a:avLst/>
          </a:prstGeom>
        </p:spPr>
        <p:txBody>
          <a:bodyPr wrap="square">
            <a:spAutoFit/>
          </a:bodyPr>
          <a:lstStyle/>
          <a:p>
            <a:pPr marL="342900" lvl="0" indent="-342900" algn="just">
              <a:lnSpc>
                <a:spcPct val="150000"/>
              </a:lnSpc>
              <a:spcAft>
                <a:spcPts val="0"/>
              </a:spcAft>
              <a:buFont typeface="Times New Roman" panose="02020603050405020304" pitchFamily="18" charset="0"/>
              <a:buChar char="•"/>
            </a:pP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Anushka</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Goel</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&amp; Udita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Taneja</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(2023). Mobile health applications for health-care delivery: trends, opportunities, and challenges. Journal of Public Health</a:t>
            </a:r>
            <a:r>
              <a:rPr lang="en-IN" sz="16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Times New Roman" panose="02020603050405020304" pitchFamily="18" charset="0"/>
              <a:buChar char="•"/>
            </a:pP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Yazeed</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Yasin</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Ghadi</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Syed Faisal Abbas Shah,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Tehseen</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Mazhar</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Tariq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Shahzad</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Khmaies</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Ouahada</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&amp; Habib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Hamam</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(2024). Enhancing patient healthcare with mobile edge computing and 5G: challenges and solutions for secure online health tools. Journal of Cloud Computing</a:t>
            </a:r>
            <a:r>
              <a:rPr lang="en-IN" sz="16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Times New Roman" panose="02020603050405020304" pitchFamily="18" charset="0"/>
              <a:buChar char="•"/>
            </a:pPr>
            <a:r>
              <a:rPr lang="en-IN" sz="1600" dirty="0" smtClean="0">
                <a:latin typeface="Times New Roman" panose="02020603050405020304" pitchFamily="18" charset="0"/>
                <a:ea typeface="Times New Roman" panose="02020603050405020304" pitchFamily="18" charset="0"/>
                <a:cs typeface="Times New Roman" panose="02020603050405020304" pitchFamily="18" charset="0"/>
              </a:rPr>
              <a:t>El-</a:t>
            </a:r>
            <a:r>
              <a:rPr lang="en-IN" sz="1600" dirty="0" err="1" smtClean="0">
                <a:latin typeface="Times New Roman" panose="02020603050405020304" pitchFamily="18" charset="0"/>
                <a:ea typeface="Times New Roman" panose="02020603050405020304" pitchFamily="18" charset="0"/>
                <a:cs typeface="Times New Roman" panose="02020603050405020304" pitchFamily="18" charset="0"/>
              </a:rPr>
              <a:t>Sherif</a:t>
            </a:r>
            <a:r>
              <a:rPr lang="en-IN" sz="16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&amp; Mohamed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Abouzid</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(2022). Analysis of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mHealth</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research: mapping the relationship between mobile health applications and global health. Globalization and Health</a:t>
            </a:r>
            <a:r>
              <a:rPr lang="en-IN" sz="16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Times New Roman" panose="02020603050405020304" pitchFamily="18" charset="0"/>
              <a:buChar char="•"/>
            </a:pP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Balla</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Rama Devi,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Shabbir</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Syed-Abdul,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Arun</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Kumar, Usman Iqbal,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Phung-Anh</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Nguyen (2015).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mHealth</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An updated systematic review with a focus on HIV/AIDS and tuberculosis long term management using mobile phones. Computer Methods and Programs in Biomedicine</a:t>
            </a:r>
            <a:r>
              <a:rPr lang="en-IN" sz="1600"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Times New Roman" panose="02020603050405020304" pitchFamily="18" charset="0"/>
              <a:buChar char="•"/>
            </a:pP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Shaojing</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Fan, Ramesh C. Jain, Mohan S.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Kankanhalli</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(2023). A Comprehensive Picture of Factors Affecting User Willingness to Use Mobile Health Applications. </a:t>
            </a:r>
            <a:r>
              <a:rPr lang="en-IN" sz="1600" dirty="0" err="1">
                <a:latin typeface="Times New Roman" panose="02020603050405020304" pitchFamily="18" charset="0"/>
                <a:ea typeface="Times New Roman" panose="02020603050405020304" pitchFamily="18" charset="0"/>
                <a:cs typeface="Times New Roman" panose="02020603050405020304" pitchFamily="18" charset="0"/>
              </a:rPr>
              <a:t>arXiv</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preprint.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61032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666" y="773719"/>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
        <p:nvSpPr>
          <p:cNvPr id="4" name="Rectangle 3"/>
          <p:cNvSpPr/>
          <p:nvPr/>
        </p:nvSpPr>
        <p:spPr>
          <a:xfrm>
            <a:off x="865746" y="1610249"/>
            <a:ext cx="10460507" cy="423449"/>
          </a:xfrm>
          <a:prstGeom prst="rect">
            <a:avLst/>
          </a:prstGeom>
        </p:spPr>
        <p:txBody>
          <a:bodyPr wrap="square">
            <a:spAutoFit/>
          </a:bodyPr>
          <a:lstStyle/>
          <a:p>
            <a:pPr lvl="0" algn="just">
              <a:lnSpc>
                <a:spcPct val="150000"/>
              </a:lnSpc>
              <a:spcAft>
                <a:spcPts val="0"/>
              </a:spcAft>
            </a:pP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p:cNvSpPr/>
          <p:nvPr/>
        </p:nvSpPr>
        <p:spPr>
          <a:xfrm>
            <a:off x="865745" y="1458620"/>
            <a:ext cx="10460507" cy="5078313"/>
          </a:xfrm>
          <a:prstGeom prst="rect">
            <a:avLst/>
          </a:prstGeom>
        </p:spPr>
        <p:txBody>
          <a:bodyPr wrap="square">
            <a:spAutoFit/>
          </a:bodyPr>
          <a:lstStyle/>
          <a:p>
            <a:pPr marL="342900" lvl="0" indent="-342900" algn="just">
              <a:lnSpc>
                <a:spcPct val="150000"/>
              </a:lnSpc>
              <a:spcAft>
                <a:spcPts val="0"/>
              </a:spcAft>
              <a:buFont typeface="Times New Roman" panose="02020603050405020304" pitchFamily="18" charset="0"/>
              <a:buChar char="•"/>
            </a:pPr>
            <a:r>
              <a:rPr lang="en-IN" dirty="0" err="1">
                <a:latin typeface="Times New Roman" panose="02020603050405020304" pitchFamily="18" charset="0"/>
                <a:ea typeface="Times New Roman" panose="02020603050405020304" pitchFamily="18" charset="0"/>
                <a:cs typeface="Times New Roman" panose="02020603050405020304" pitchFamily="18" charset="0"/>
              </a:rPr>
              <a:t>Anindya</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Ghose</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Xitong</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Guo</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Beibei</a:t>
            </a:r>
            <a:r>
              <a:rPr lang="en-IN" dirty="0">
                <a:latin typeface="Times New Roman" panose="02020603050405020304" pitchFamily="18" charset="0"/>
                <a:ea typeface="Times New Roman" panose="02020603050405020304" pitchFamily="18" charset="0"/>
                <a:cs typeface="Times New Roman" panose="02020603050405020304" pitchFamily="18" charset="0"/>
              </a:rPr>
              <a:t> Li,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Yuanyuan</a:t>
            </a:r>
            <a:r>
              <a:rPr lang="en-IN" dirty="0">
                <a:latin typeface="Times New Roman" panose="02020603050405020304" pitchFamily="18" charset="0"/>
                <a:ea typeface="Times New Roman" panose="02020603050405020304" pitchFamily="18" charset="0"/>
                <a:cs typeface="Times New Roman" panose="02020603050405020304" pitchFamily="18" charset="0"/>
              </a:rPr>
              <a:t> Dang (2021). Empowering Patients Using Smart Mobile Health Platforms: Evidence From A Randomized Field Experiment.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arXiv</a:t>
            </a:r>
            <a:r>
              <a:rPr lang="en-IN" dirty="0">
                <a:latin typeface="Times New Roman" panose="02020603050405020304" pitchFamily="18" charset="0"/>
                <a:ea typeface="Times New Roman" panose="02020603050405020304" pitchFamily="18" charset="0"/>
                <a:cs typeface="Times New Roman" panose="02020603050405020304" pitchFamily="18" charset="0"/>
              </a:rPr>
              <a:t> preprint</a:t>
            </a:r>
            <a:r>
              <a:rPr lang="en-IN"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Times New Roman" panose="02020603050405020304" pitchFamily="18" charset="0"/>
              <a:buChar char="•"/>
            </a:pPr>
            <a:r>
              <a:rPr lang="en-IN" dirty="0" err="1">
                <a:latin typeface="Times New Roman" panose="02020603050405020304" pitchFamily="18" charset="0"/>
                <a:ea typeface="Times New Roman" panose="02020603050405020304" pitchFamily="18" charset="0"/>
                <a:cs typeface="Times New Roman" panose="02020603050405020304" pitchFamily="18" charset="0"/>
              </a:rPr>
              <a:t>Bakheet</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Aljedaani</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Aakash</a:t>
            </a:r>
            <a:r>
              <a:rPr lang="en-IN" dirty="0">
                <a:latin typeface="Times New Roman" panose="02020603050405020304" pitchFamily="18" charset="0"/>
                <a:ea typeface="Times New Roman" panose="02020603050405020304" pitchFamily="18" charset="0"/>
                <a:cs typeface="Times New Roman" panose="02020603050405020304" pitchFamily="18" charset="0"/>
              </a:rPr>
              <a:t> Ahmad,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Mansooreh</a:t>
            </a:r>
            <a:r>
              <a:rPr lang="en-IN" dirty="0">
                <a:latin typeface="Times New Roman" panose="02020603050405020304" pitchFamily="18" charset="0"/>
                <a:ea typeface="Times New Roman" panose="02020603050405020304" pitchFamily="18" charset="0"/>
                <a:cs typeface="Times New Roman" panose="02020603050405020304" pitchFamily="18" charset="0"/>
              </a:rPr>
              <a:t> Zahedi, M. Ali Babar (2022). An Empirical Study on Secure Usage of Mobile Health Apps: The Attack Simulation Approach.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arXiv</a:t>
            </a:r>
            <a:r>
              <a:rPr lang="en-IN" dirty="0">
                <a:latin typeface="Times New Roman" panose="02020603050405020304" pitchFamily="18" charset="0"/>
                <a:ea typeface="Times New Roman" panose="02020603050405020304" pitchFamily="18" charset="0"/>
                <a:cs typeface="Times New Roman" panose="02020603050405020304" pitchFamily="18" charset="0"/>
              </a:rPr>
              <a:t> preprint</a:t>
            </a:r>
            <a:r>
              <a:rPr lang="en-IN"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Times New Roman" panose="02020603050405020304" pitchFamily="18" charset="0"/>
              <a:buChar char="•"/>
            </a:pPr>
            <a:r>
              <a:rPr lang="en-IN" dirty="0">
                <a:latin typeface="Times New Roman" panose="02020603050405020304" pitchFamily="18" charset="0"/>
                <a:ea typeface="Times New Roman" panose="02020603050405020304" pitchFamily="18" charset="0"/>
                <a:cs typeface="Times New Roman" panose="02020603050405020304" pitchFamily="18" charset="0"/>
              </a:rPr>
              <a:t>Ismail Ali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Afrah</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Utku</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Kose</a:t>
            </a:r>
            <a:r>
              <a:rPr lang="en-IN" dirty="0">
                <a:latin typeface="Times New Roman" panose="02020603050405020304" pitchFamily="18" charset="0"/>
                <a:ea typeface="Times New Roman" panose="02020603050405020304" pitchFamily="18" charset="0"/>
                <a:cs typeface="Times New Roman" panose="02020603050405020304" pitchFamily="18" charset="0"/>
              </a:rPr>
              <a:t> (2021).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MHealth</a:t>
            </a:r>
            <a:r>
              <a:rPr lang="en-IN" dirty="0">
                <a:latin typeface="Times New Roman" panose="02020603050405020304" pitchFamily="18" charset="0"/>
                <a:ea typeface="Times New Roman" panose="02020603050405020304" pitchFamily="18" charset="0"/>
                <a:cs typeface="Times New Roman" panose="02020603050405020304" pitchFamily="18" charset="0"/>
              </a:rPr>
              <a:t>: An Artificial Intelligence Oriented Mobile Application for Personal Healthcare Support.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arXiv</a:t>
            </a:r>
            <a:r>
              <a:rPr lang="en-IN" dirty="0">
                <a:latin typeface="Times New Roman" panose="02020603050405020304" pitchFamily="18" charset="0"/>
                <a:ea typeface="Times New Roman" panose="02020603050405020304" pitchFamily="18" charset="0"/>
                <a:cs typeface="Times New Roman" panose="02020603050405020304" pitchFamily="18" charset="0"/>
              </a:rPr>
              <a:t> preprint</a:t>
            </a:r>
            <a:r>
              <a:rPr lang="en-IN"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0"/>
              </a:spcAft>
              <a:buFont typeface="Times New Roman" panose="02020603050405020304" pitchFamily="18" charset="0"/>
              <a:buChar char="•"/>
            </a:pPr>
            <a:r>
              <a:rPr lang="en-IN" dirty="0">
                <a:latin typeface="Times New Roman" panose="02020603050405020304" pitchFamily="18" charset="0"/>
                <a:ea typeface="Times New Roman" panose="02020603050405020304" pitchFamily="18" charset="0"/>
                <a:cs typeface="Times New Roman" panose="02020603050405020304" pitchFamily="18" charset="0"/>
              </a:rPr>
              <a:t>Ralph Maddison, Anna Rolleston, Ralph Stewart,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Yannan</a:t>
            </a:r>
            <a:r>
              <a:rPr lang="en-IN" dirty="0">
                <a:latin typeface="Times New Roman" panose="02020603050405020304" pitchFamily="18" charset="0"/>
                <a:ea typeface="Times New Roman" panose="02020603050405020304" pitchFamily="18" charset="0"/>
                <a:cs typeface="Times New Roman" panose="02020603050405020304" pitchFamily="18" charset="0"/>
              </a:rPr>
              <a:t> Jiang, Robyn Whittaker (2015). Text Message and Internet Support for Coronary Heart Disease Self-Management: Results From the Text4Heart Randomized Controlled Trial. Journal of Medical Internet Research</a:t>
            </a:r>
            <a:r>
              <a:rPr lang="en-IN" dirty="0" smtClean="0">
                <a:latin typeface="Times New Roman" panose="02020603050405020304" pitchFamily="18" charset="0"/>
                <a:ea typeface="Times New Roman" panose="02020603050405020304" pitchFamily="18"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Times New Roman" panose="02020603050405020304" pitchFamily="18" charset="0"/>
              <a:buChar char="•"/>
            </a:pPr>
            <a:r>
              <a:rPr lang="en-IN" dirty="0" err="1">
                <a:latin typeface="Times New Roman" panose="02020603050405020304" pitchFamily="18" charset="0"/>
                <a:ea typeface="Times New Roman" panose="02020603050405020304" pitchFamily="18" charset="0"/>
                <a:cs typeface="Times New Roman" panose="02020603050405020304" pitchFamily="18" charset="0"/>
              </a:rPr>
              <a:t>Taridzo</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Chomutare</a:t>
            </a:r>
            <a:r>
              <a:rPr lang="en-IN" dirty="0">
                <a:latin typeface="Times New Roman" panose="02020603050405020304" pitchFamily="18" charset="0"/>
                <a:ea typeface="Times New Roman" panose="02020603050405020304" pitchFamily="18" charset="0"/>
                <a:cs typeface="Times New Roman" panose="02020603050405020304" pitchFamily="18" charset="0"/>
              </a:rPr>
              <a:t>, Luis Fernandez-</a:t>
            </a:r>
            <a:r>
              <a:rPr lang="en-IN" dirty="0" err="1">
                <a:latin typeface="Times New Roman" panose="02020603050405020304" pitchFamily="18" charset="0"/>
                <a:ea typeface="Times New Roman" panose="02020603050405020304" pitchFamily="18" charset="0"/>
                <a:cs typeface="Times New Roman" panose="02020603050405020304" pitchFamily="18" charset="0"/>
              </a:rPr>
              <a:t>Luque</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Eirik</a:t>
            </a:r>
            <a:r>
              <a:rPr lang="en-IN" dirty="0">
                <a:latin typeface="Times New Roman" panose="02020603050405020304" pitchFamily="18" charset="0"/>
                <a:ea typeface="Times New Roman" panose="02020603050405020304" pitchFamily="18" charset="0"/>
                <a:cs typeface="Times New Roman" panose="02020603050405020304" pitchFamily="18" charset="0"/>
              </a:rPr>
              <a:t>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Årsand</a:t>
            </a:r>
            <a:r>
              <a:rPr lang="en-IN" dirty="0">
                <a:latin typeface="Times New Roman" panose="02020603050405020304" pitchFamily="18" charset="0"/>
                <a:ea typeface="Times New Roman" panose="02020603050405020304" pitchFamily="18" charset="0"/>
                <a:cs typeface="Times New Roman" panose="02020603050405020304" pitchFamily="18" charset="0"/>
              </a:rPr>
              <a:t>, Gunnar </a:t>
            </a:r>
            <a:r>
              <a:rPr lang="en-IN" dirty="0" err="1">
                <a:latin typeface="Times New Roman" panose="02020603050405020304" pitchFamily="18" charset="0"/>
                <a:ea typeface="Times New Roman" panose="02020603050405020304" pitchFamily="18" charset="0"/>
                <a:cs typeface="Times New Roman" panose="02020603050405020304" pitchFamily="18" charset="0"/>
              </a:rPr>
              <a:t>Hartvigsen</a:t>
            </a:r>
            <a:r>
              <a:rPr lang="en-IN" dirty="0">
                <a:latin typeface="Times New Roman" panose="02020603050405020304" pitchFamily="18" charset="0"/>
                <a:ea typeface="Times New Roman" panose="02020603050405020304" pitchFamily="18" charset="0"/>
                <a:cs typeface="Times New Roman" panose="02020603050405020304" pitchFamily="18" charset="0"/>
              </a:rPr>
              <a:t> (2011). Features of Mobile Diabetes Applications: Review of the Literature and Analysis of Current Applications Compared Against Evidence-Based Guidelines. Journal of Medical Internet Research.</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4803037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261</TotalTime>
  <Words>1910</Words>
  <Application>Microsoft Office PowerPoint</Application>
  <PresentationFormat>Widescreen</PresentationFormat>
  <Paragraphs>104</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Garamond</vt:lpstr>
      <vt:lpstr>Symbol</vt:lpstr>
      <vt:lpstr>Times New Roman</vt:lpstr>
      <vt:lpstr>Wingdings</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Existing method:</vt:lpstr>
      <vt:lpstr>PowerPoint Presentation</vt:lpstr>
      <vt:lpstr>Proposed method:</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Thatha Pavan Kumar</dc:creator>
  <cp:lastModifiedBy>Thatha Pavan Kumar</cp:lastModifiedBy>
  <cp:revision>29</cp:revision>
  <dcterms:created xsi:type="dcterms:W3CDTF">2024-06-07T05:03:11Z</dcterms:created>
  <dcterms:modified xsi:type="dcterms:W3CDTF">2025-01-03T09:18:38Z</dcterms:modified>
</cp:coreProperties>
</file>